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6" r:id="rId2"/>
    <p:sldId id="273" r:id="rId3"/>
    <p:sldId id="268" r:id="rId4"/>
    <p:sldId id="272" r:id="rId5"/>
    <p:sldId id="259" r:id="rId6"/>
    <p:sldId id="263" r:id="rId7"/>
    <p:sldId id="265" r:id="rId8"/>
    <p:sldId id="270" r:id="rId9"/>
    <p:sldId id="264" r:id="rId10"/>
    <p:sldId id="267" r:id="rId11"/>
    <p:sldId id="260" r:id="rId12"/>
    <p:sldId id="271" r:id="rId13"/>
    <p:sldId id="26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62D0A-3220-2AA4-8F99-E9DC5E2FAE3E}" v="39" dt="2024-04-17T00:43:09.140"/>
    <p1510:client id="{844BFB39-9881-8F26-E742-5B8146F07A0A}" v="293" dt="2024-04-17T14:11:17.800"/>
    <p1510:client id="{92A935FE-DBE9-CC0C-65EC-1613C5AABCFE}" v="44" dt="2024-04-17T01:44:02.912"/>
    <p1510:client id="{92A9ABA9-99CC-3F6E-6797-8C45CC022427}" v="63" dt="2024-04-16T00:13:13.760"/>
    <p1510:client id="{A7EAED17-1C67-77D4-4B63-5926F3C340BA}" v="13" dt="2024-04-16T16:01:34.940"/>
    <p1510:client id="{AC0B885D-A294-E1BD-4D3E-0A9F7E02074F}" v="3" dt="2024-04-16T16:55:37.661"/>
    <p1510:client id="{BA27FE32-34CC-FAAF-834E-384F63866784}" v="98" dt="2024-04-17T15:18:48.780"/>
    <p1510:client id="{C73B15F9-D55E-07B4-5777-892605CF0B53}" v="14" dt="2024-04-17T15:41:30.071"/>
    <p1510:client id="{D448238A-6BBE-38B8-2869-AEE301279128}" v="37" dt="2024-04-17T00:52:34.959"/>
    <p1510:client id="{FB96AEE7-1FB9-CC4C-84BF-C79B8CCCDEE1}" v="18" dt="2024-04-16T23:31:57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D495C-86B6-4F30-800A-24457DCCA42C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68FE2-A794-4461-A3FC-584BFAE22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2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68FE2-A794-4461-A3FC-584BFAE226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3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6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0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0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1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3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5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1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330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6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4367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03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25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2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7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415" y="2075504"/>
            <a:ext cx="3654569" cy="2042725"/>
          </a:xfrm>
        </p:spPr>
        <p:txBody>
          <a:bodyPr>
            <a:normAutofit/>
          </a:bodyPr>
          <a:lstStyle/>
          <a:p>
            <a:r>
              <a:rPr lang="en-US" sz="4800">
                <a:ea typeface="Calibri Light"/>
                <a:cs typeface="Calibri Light"/>
              </a:rPr>
              <a:t>Capstone Presentation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5932" y="4202728"/>
            <a:ext cx="3894053" cy="102612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pic>
        <p:nvPicPr>
          <p:cNvPr id="4" name="Picture 3" descr="An orange background with white text&#10;&#10;Description automatically generated">
            <a:extLst>
              <a:ext uri="{FF2B5EF4-FFF2-40B4-BE49-F238E27FC236}">
                <a16:creationId xmlns:a16="http://schemas.microsoft.com/office/drawing/2014/main" id="{80FC0200-D94C-32C7-6B44-CA6850655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62" y="1712233"/>
            <a:ext cx="6120318" cy="3442678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F4FE0-F69F-AA97-C945-253B99AE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Industry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B1FA-30FE-51A0-4D09-1630243D3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Travelers Insurance</a:t>
            </a:r>
          </a:p>
        </p:txBody>
      </p:sp>
      <p:pic>
        <p:nvPicPr>
          <p:cNvPr id="5" name="Picture 4" descr="Travelers logo and symbol, meaning, history, PNG">
            <a:extLst>
              <a:ext uri="{FF2B5EF4-FFF2-40B4-BE49-F238E27FC236}">
                <a16:creationId xmlns:a16="http://schemas.microsoft.com/office/drawing/2014/main" id="{7BD6463B-95CC-8030-4D56-2AE64CA4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815399"/>
            <a:ext cx="5143500" cy="3214687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76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A40D-2BCA-DA50-97F4-6CF25EA0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99BBA-98BA-709D-44A2-935DB6F00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Create a model to calculate the cost of an auto insurance claim (if there is a claim) based on historical data.</a:t>
            </a:r>
          </a:p>
          <a:p>
            <a:r>
              <a:rPr lang="en-US" sz="2400"/>
              <a:t>Extrapolate this model so that it can be used in the present.</a:t>
            </a:r>
          </a:p>
          <a:p>
            <a:r>
              <a:rPr lang="en-US" sz="2400"/>
              <a:t>Use this model to also predict if a claim happens.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5634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7A94-F69A-677E-047F-7B07EA2A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6995-15C8-5948-4642-F9036191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Elastic net model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3DCC069-6EA4-3896-AD23-FEF701955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25" y="2730998"/>
            <a:ext cx="9198932" cy="17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0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6285-A109-F804-509A-78C0C3FD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825" y="609600"/>
            <a:ext cx="8596668" cy="1320800"/>
          </a:xfrm>
        </p:spPr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BD59E-1B08-A627-0C3E-23297D3D8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88" y="1580559"/>
            <a:ext cx="5161982" cy="5484384"/>
          </a:xfrm>
        </p:spPr>
        <p:txBody>
          <a:bodyPr anchor="t">
            <a:normAutofit/>
          </a:bodyPr>
          <a:lstStyle/>
          <a:p>
            <a:r>
              <a:rPr lang="en-US" sz="2400" b="1"/>
              <a:t>Potential Approaches:</a:t>
            </a:r>
          </a:p>
          <a:p>
            <a:r>
              <a:rPr lang="en-US"/>
              <a:t>Linear Regression</a:t>
            </a:r>
          </a:p>
          <a:p>
            <a:r>
              <a:rPr lang="en-US"/>
              <a:t>Logistic Regression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Binomial distribution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Gamma distribution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Tweedie distribution</a:t>
            </a:r>
          </a:p>
          <a:p>
            <a:r>
              <a:rPr lang="en-US" err="1"/>
              <a:t>LightGBM</a:t>
            </a:r>
            <a:r>
              <a:rPr lang="en-US"/>
              <a:t> Algorithm</a:t>
            </a:r>
          </a:p>
          <a:p>
            <a:r>
              <a:rPr lang="en-US" err="1"/>
              <a:t>XGBoost</a:t>
            </a:r>
            <a:r>
              <a:rPr lang="en-US"/>
              <a:t> Algorithm</a:t>
            </a:r>
          </a:p>
          <a:p>
            <a:r>
              <a:rPr lang="en-US"/>
              <a:t>Ridge Regression</a:t>
            </a:r>
          </a:p>
          <a:p>
            <a:r>
              <a:rPr lang="en-US"/>
              <a:t>Lasso Regression</a:t>
            </a:r>
          </a:p>
          <a:p>
            <a:r>
              <a:rPr lang="en-US"/>
              <a:t>Two-Step Method</a:t>
            </a:r>
          </a:p>
          <a:p>
            <a:endParaRPr lang="en-US"/>
          </a:p>
          <a:p>
            <a:pPr marL="0" indent="0">
              <a:buNone/>
            </a:pP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3B979-6328-9144-10A1-D642E37E3571}"/>
              </a:ext>
            </a:extLst>
          </p:cNvPr>
          <p:cNvSpPr txBox="1"/>
          <p:nvPr/>
        </p:nvSpPr>
        <p:spPr>
          <a:xfrm>
            <a:off x="6099672" y="1577633"/>
            <a:ext cx="3638555" cy="10977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200" b="1">
                <a:solidFill>
                  <a:srgbClr val="404040"/>
                </a:solidFill>
              </a:rPr>
              <a:t>Approach Selected:</a:t>
            </a:r>
            <a:endParaRPr lang="en-US" sz="22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>
                <a:solidFill>
                  <a:srgbClr val="404040"/>
                </a:solidFill>
              </a:rPr>
              <a:t>Elastic Net Regression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8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00F3B-D6B2-E1F1-59B8-3803786D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Linear Model Approaches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13E5A-FDAD-54BF-D454-D5AD15B07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Started with full linear model including all variables</a:t>
            </a:r>
          </a:p>
          <a:p>
            <a:pPr lvl="1">
              <a:buFont typeface="Courier New" charset="2"/>
              <a:buChar char="o"/>
            </a:pPr>
            <a:r>
              <a:rPr lang="en-US"/>
              <a:t>Reduced model with stepwise variable selection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Best AIC model:</a:t>
            </a:r>
          </a:p>
          <a:p>
            <a:pPr lvl="2">
              <a:buFont typeface="Wingdings" charset="2"/>
              <a:buChar char="§"/>
            </a:pPr>
            <a:r>
              <a:rPr lang="en-US"/>
              <a:t>AIC: 387510.2 Gini: 0.1774</a:t>
            </a:r>
          </a:p>
          <a:p>
            <a:pPr lvl="1">
              <a:buFont typeface="Courier New" charset="2"/>
              <a:buChar char="o"/>
            </a:pPr>
            <a:r>
              <a:rPr lang="en-US"/>
              <a:t>Best Gini model:</a:t>
            </a:r>
          </a:p>
          <a:p>
            <a:pPr lvl="2">
              <a:buFont typeface="Wingdings" charset="2"/>
              <a:buChar char="§"/>
            </a:pPr>
            <a:r>
              <a:rPr lang="en-US"/>
              <a:t>AIC: 387510.6 Gini: 0.1879</a:t>
            </a:r>
          </a:p>
          <a:p>
            <a:r>
              <a:rPr lang="en-US"/>
              <a:t>Introduced variable transformations and interaction terms</a:t>
            </a:r>
          </a:p>
          <a:p>
            <a:pPr lvl="1">
              <a:buFont typeface="Courier New" charset="2"/>
              <a:buChar char="o"/>
            </a:pPr>
            <a:r>
              <a:rPr lang="en-US"/>
              <a:t>Similarly reduced with stepwise variable selection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Best AIC and Gini model:</a:t>
            </a:r>
          </a:p>
          <a:p>
            <a:pPr lvl="2">
              <a:buFont typeface="Wingdings" charset="2"/>
              <a:buChar char="§"/>
            </a:pPr>
            <a:r>
              <a:rPr lang="en-US"/>
              <a:t>AIC: 387506.1 Gini: 0.1868</a:t>
            </a:r>
          </a:p>
          <a:p>
            <a:r>
              <a:rPr lang="en-US"/>
              <a:t>All models have very high variability, R</a:t>
            </a:r>
            <a:r>
              <a:rPr lang="en-US" baseline="30000"/>
              <a:t>2</a:t>
            </a:r>
            <a:r>
              <a:rPr lang="en-US" baseline="-25000"/>
              <a:t>adj </a:t>
            </a:r>
            <a:r>
              <a:rPr lang="en-US"/>
              <a:t>never passing 0.003</a:t>
            </a:r>
          </a:p>
        </p:txBody>
      </p:sp>
    </p:spTree>
    <p:extLst>
      <p:ext uri="{BB962C8B-B14F-4D97-AF65-F5344CB8AC3E}">
        <p14:creationId xmlns:p14="http://schemas.microsoft.com/office/powerpoint/2010/main" val="309173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2A3D-E2AD-A138-D68E-343CC898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 Model/2-Model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61A0-1AA3-A0CE-E9DE-EFF47A170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921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We attempted a two-model approach with both arbitrary cut off and linear scaling</a:t>
            </a:r>
          </a:p>
          <a:p>
            <a:pPr lvl="1">
              <a:buFont typeface="Courier New" charset="2"/>
              <a:buChar char="o"/>
            </a:pPr>
            <a:r>
              <a:rPr lang="en-US"/>
              <a:t>Reduced model with stepwise variable selection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Best AIC model to be combined with best linear model:</a:t>
            </a:r>
          </a:p>
          <a:p>
            <a:pPr lvl="2">
              <a:buFont typeface="Wingdings" charset="2"/>
              <a:buChar char="§"/>
            </a:pPr>
            <a:r>
              <a:rPr lang="en-US"/>
              <a:t>AIC: 10843 Gini: 0.1812</a:t>
            </a:r>
          </a:p>
          <a:p>
            <a:r>
              <a:rPr lang="en-US"/>
              <a:t>We attempted to add interaction terms</a:t>
            </a:r>
          </a:p>
          <a:p>
            <a:pPr lvl="1">
              <a:buFont typeface="Courier New,monospace" charset="2"/>
              <a:buChar char="o"/>
            </a:pPr>
            <a:r>
              <a:rPr lang="en-US" sz="1800"/>
              <a:t>Similarly reduced with stepwise variable selection</a:t>
            </a:r>
          </a:p>
          <a:p>
            <a:pPr lvl="1">
              <a:buFont typeface="Courier New" charset="2"/>
              <a:buChar char="o"/>
            </a:pPr>
            <a:r>
              <a:rPr lang="en-US"/>
              <a:t>Best AIC model to be combined with best linear model:</a:t>
            </a:r>
          </a:p>
          <a:p>
            <a:pPr lvl="2">
              <a:buFont typeface="Wingdings" charset="2"/>
              <a:buChar char="§"/>
            </a:pPr>
            <a:r>
              <a:rPr lang="en-US"/>
              <a:t>AIC: 10775 Gini: 0.1807</a:t>
            </a:r>
          </a:p>
          <a:p>
            <a:pPr lvl="3"/>
            <a:r>
              <a:rPr lang="en-US"/>
              <a:t>May be caused by overfitting data</a:t>
            </a:r>
          </a:p>
          <a:p>
            <a:r>
              <a:rPr lang="en-US"/>
              <a:t>Attempted a Tweedie approach with Poisson</a:t>
            </a:r>
          </a:p>
          <a:p>
            <a:pPr lvl="1">
              <a:buFont typeface="Courier New" charset="2"/>
              <a:buChar char="o"/>
            </a:pPr>
            <a:r>
              <a:rPr lang="en-US" sz="1400"/>
              <a:t>Gini: 0.1568</a:t>
            </a:r>
            <a:endParaRPr lang="en-US"/>
          </a:p>
          <a:p>
            <a:r>
              <a:rPr lang="en-US"/>
              <a:t>This was not better than the linear model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1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CB51-7A08-D361-74FA-B53B1BE8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336CD-0113-AD4C-76BA-BCCB9161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 b="1"/>
              <a:t>Techniques that were Considered</a:t>
            </a:r>
            <a:endParaRPr lang="en-US" sz="2400"/>
          </a:p>
          <a:p>
            <a:pPr>
              <a:buFont typeface="Wingdings,Sans-Serif" charset="2"/>
              <a:buChar char="Ø"/>
            </a:pPr>
            <a:r>
              <a:rPr lang="en-US"/>
              <a:t>Random Forest</a:t>
            </a:r>
          </a:p>
          <a:p>
            <a:pPr lvl="1">
              <a:buFont typeface="Courier New,monospace" charset="2"/>
              <a:buChar char="o"/>
            </a:pPr>
            <a:r>
              <a:rPr lang="en-US"/>
              <a:t>Based on the concepts of decision trees </a:t>
            </a:r>
          </a:p>
          <a:p>
            <a:pPr lvl="1">
              <a:buFont typeface="Courier New,monospace" charset="2"/>
              <a:buChar char="o"/>
            </a:pPr>
            <a:r>
              <a:rPr lang="en-US">
                <a:solidFill>
                  <a:schemeClr val="tx1"/>
                </a:solidFill>
              </a:rPr>
              <a:t>"Forest" refers to the collection of decision trees that are built during training</a:t>
            </a:r>
            <a:endParaRPr lang="en-US"/>
          </a:p>
          <a:p>
            <a:pPr lvl="1">
              <a:buFont typeface="Courier New,monospace" charset="2"/>
              <a:buChar char="o"/>
            </a:pPr>
            <a:r>
              <a:rPr lang="en-US">
                <a:solidFill>
                  <a:schemeClr val="tx1"/>
                </a:solidFill>
              </a:rPr>
              <a:t>Generally used for prediction and classification</a:t>
            </a:r>
            <a:endParaRPr lang="en-US"/>
          </a:p>
          <a:p>
            <a:pPr>
              <a:buFont typeface="Wingdings,Sans-Serif" charset="2"/>
              <a:buChar char="Ø"/>
            </a:pPr>
            <a:r>
              <a:rPr lang="en-US" err="1"/>
              <a:t>LightGBM</a:t>
            </a:r>
          </a:p>
          <a:p>
            <a:pPr lvl="1">
              <a:buFont typeface="Courier New,monospace" charset="2"/>
              <a:buChar char="o"/>
            </a:pPr>
            <a:r>
              <a:rPr lang="en-US"/>
              <a:t>Usually used for exceptionally large data sets using Gradient-based sampling (make the sampling process faster and more directed) </a:t>
            </a:r>
          </a:p>
          <a:p>
            <a:pPr>
              <a:buFont typeface="Wingdings,Sans-Serif" charset="2"/>
              <a:buChar char="Ø"/>
            </a:pPr>
            <a:r>
              <a:rPr lang="en-US" err="1"/>
              <a:t>XGBoost</a:t>
            </a:r>
          </a:p>
          <a:p>
            <a:pPr marL="1028700" lvl="1">
              <a:buFont typeface="Courier New,monospace" charset="2"/>
              <a:buChar char="o"/>
            </a:pPr>
            <a:r>
              <a:rPr lang="en-US"/>
              <a:t>Similar to </a:t>
            </a:r>
            <a:r>
              <a:rPr lang="en-US" err="1"/>
              <a:t>LightGBM</a:t>
            </a:r>
            <a:r>
              <a:rPr lang="en-US"/>
              <a:t>, uses Gradient-based sampling</a:t>
            </a:r>
          </a:p>
          <a:p>
            <a:pPr marL="1028700" lvl="1">
              <a:buFont typeface="Courier New,monospace" charset="2"/>
              <a:buChar char="o"/>
            </a:pPr>
            <a:r>
              <a:rPr lang="en-US"/>
              <a:t>However, it is stronger in some instances than </a:t>
            </a:r>
            <a:r>
              <a:rPr lang="en-US" err="1"/>
              <a:t>LightGBM</a:t>
            </a:r>
            <a:r>
              <a:rPr lang="en-US"/>
              <a:t>, but slower and takes more computational power</a:t>
            </a:r>
          </a:p>
          <a:p>
            <a:pPr lvl="1">
              <a:buFont typeface="Courier New,monospace" charset="2"/>
              <a:buChar char="o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0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E45B-7BF9-E154-194B-D6529B69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Elastic Net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8B9955-5CDF-F2B8-F33C-74F0E2429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283" y="5702246"/>
            <a:ext cx="5943630" cy="61962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BA9FB8-223B-6FE4-2712-CB006D879953}"/>
              </a:ext>
            </a:extLst>
          </p:cNvPr>
          <p:cNvSpPr txBox="1"/>
          <p:nvPr/>
        </p:nvSpPr>
        <p:spPr>
          <a:xfrm>
            <a:off x="705716" y="1362909"/>
            <a:ext cx="8702241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Elastic Net is a regression analysis technique that is useful when dealing with datasets with many variables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Combines advantages of Ridge and Lasso Regression</a:t>
            </a: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Includes two penalty terms: one for coefficient shrinkage and another for variable selection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Helps prevent overfitting data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Leads to a more robust and interpretable model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/>
              <a:t>Also leads to better predictive power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4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3864-65E1-9E7D-6792-D18ABED2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Model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F953-ECF7-79AD-6AD3-3DD0FE2E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Elastic net approach with α = 1 and </a:t>
            </a:r>
            <a:r>
              <a:rPr lang="el">
                <a:ea typeface="+mn-lt"/>
                <a:cs typeface="+mn-lt"/>
              </a:rPr>
              <a:t>λ = 6.4 (LASSO </a:t>
            </a:r>
            <a:r>
              <a:rPr lang="el" err="1">
                <a:ea typeface="+mn-lt"/>
                <a:cs typeface="+mn-lt"/>
              </a:rPr>
              <a:t>regression</a:t>
            </a:r>
            <a:r>
              <a:rPr lang="el">
                <a:ea typeface="+mn-lt"/>
                <a:cs typeface="+mn-lt"/>
              </a:rPr>
              <a:t>) </a:t>
            </a:r>
            <a:r>
              <a:rPr lang="el" err="1">
                <a:ea typeface="+mn-lt"/>
                <a:cs typeface="+mn-lt"/>
              </a:rPr>
              <a:t>created</a:t>
            </a:r>
            <a:r>
              <a:rPr lang="el">
                <a:ea typeface="+mn-lt"/>
                <a:cs typeface="+mn-lt"/>
              </a:rPr>
              <a:t> the </a:t>
            </a:r>
            <a:r>
              <a:rPr lang="el" err="1">
                <a:ea typeface="+mn-lt"/>
                <a:cs typeface="+mn-lt"/>
              </a:rPr>
              <a:t>best</a:t>
            </a:r>
            <a:r>
              <a:rPr lang="el">
                <a:ea typeface="+mn-lt"/>
                <a:cs typeface="+mn-lt"/>
              </a:rPr>
              <a:t> </a:t>
            </a:r>
            <a:r>
              <a:rPr lang="el" err="1">
                <a:ea typeface="+mn-lt"/>
                <a:cs typeface="+mn-lt"/>
              </a:rPr>
              <a:t>model</a:t>
            </a:r>
            <a:endParaRPr lang="en-US" err="1">
              <a:ea typeface="+mn-lt"/>
              <a:cs typeface="+mn-lt"/>
            </a:endParaRPr>
          </a:p>
          <a:p>
            <a:r>
              <a:rPr lang="el" err="1"/>
              <a:t>Gini</a:t>
            </a:r>
            <a:r>
              <a:rPr lang="el"/>
              <a:t> </a:t>
            </a:r>
            <a:r>
              <a:rPr lang="el" err="1"/>
              <a:t>Score</a:t>
            </a:r>
            <a:r>
              <a:rPr lang="el"/>
              <a:t>: 0.1978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D439158-8CFA-C290-CFF5-2926FEFC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2" y="3528716"/>
            <a:ext cx="9198932" cy="17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0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BAAE-8455-A8AF-2219-F94898F2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EA2C-9EEF-CF7F-4373-B921287FF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Overfitting was a large hurdle in finding effective approaches</a:t>
            </a:r>
          </a:p>
          <a:p>
            <a:pPr lvl="1">
              <a:buFont typeface="Courier New" charset="2"/>
              <a:buChar char="o"/>
            </a:pPr>
            <a:r>
              <a:rPr lang="en-US"/>
              <a:t>AIC seemed to be a bit counterproductive as a metric for model selection because it seemed to promote overfitting</a:t>
            </a:r>
          </a:p>
          <a:p>
            <a:pPr lvl="2">
              <a:buFont typeface="Wingdings" charset="2"/>
              <a:buChar char="§"/>
            </a:pPr>
            <a:r>
              <a:rPr lang="en-US" sz="1600"/>
              <a:t>Do not have any other metrics that would work better other than testing against a validation set</a:t>
            </a:r>
          </a:p>
          <a:p>
            <a:r>
              <a:rPr lang="en-US" sz="2000"/>
              <a:t>Prediction power seems to be very low consistently in all approaches</a:t>
            </a:r>
          </a:p>
          <a:p>
            <a:pPr lvl="1">
              <a:buFont typeface="Courier New" charset="2"/>
              <a:buChar char="o"/>
            </a:pPr>
            <a:r>
              <a:rPr lang="en-US" sz="1800"/>
              <a:t>May have been able to combine Elastic Net with Tweedie to make an even stronger model than we found if time permitted </a:t>
            </a:r>
          </a:p>
          <a:p>
            <a:r>
              <a:rPr lang="en-US" sz="2000"/>
              <a:t>May have slightly stronger results if we had stronger computers to make more complex machine learning models</a:t>
            </a:r>
          </a:p>
          <a:p>
            <a:pPr lvl="1">
              <a:buFont typeface="Courier New" charset="2"/>
              <a:buChar char="o"/>
            </a:pPr>
            <a:r>
              <a:rPr lang="en-US" sz="1800"/>
              <a:t>We limited run time to 40-60 hours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6233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954D-0075-90E3-E93E-B6F3CC4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359D-C6A6-EEC5-50BE-986A9F4E4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971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Problem: Create a model to predict the cost of an auto insurance claim.</a:t>
            </a:r>
          </a:p>
          <a:p>
            <a:r>
              <a:rPr lang="en-US"/>
              <a:t>Method used: Elastic net model with α = 1 and </a:t>
            </a:r>
            <a:r>
              <a:rPr lang="el"/>
              <a:t>λ = 6.4 (LASSO </a:t>
            </a:r>
            <a:r>
              <a:rPr lang="el" err="1"/>
              <a:t>regression</a:t>
            </a:r>
            <a:r>
              <a:rPr lang="el"/>
              <a:t>)</a:t>
            </a:r>
            <a:r>
              <a:rPr lang="en-US"/>
              <a:t>.</a:t>
            </a:r>
          </a:p>
          <a:p>
            <a:r>
              <a:rPr lang="en-US"/>
              <a:t>Final model with Gini score of 0.1978:</a:t>
            </a:r>
          </a:p>
          <a:p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BE06B44-C514-646A-1091-40A958FD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39" y="3427361"/>
            <a:ext cx="9198932" cy="17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8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52A7-3B95-F816-1AFD-5D2CADF8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Next Steps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0E67-DD4C-547D-3274-4209C0BC7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 rtl="0" fontAlgn="base"/>
            <a:r>
              <a:rPr lang="en-US" sz="2400" b="1" i="0" u="none" strike="noStrike">
                <a:solidFill>
                  <a:srgbClr val="000000"/>
                </a:solidFill>
                <a:effectLst/>
                <a:latin typeface="Trebuchet MS"/>
              </a:rPr>
              <a:t>Variables to consider:</a:t>
            </a:r>
            <a:r>
              <a:rPr lang="en-US" sz="24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Trebuchet MS"/>
              </a:rPr>
              <a:t>Smoker or not</a:t>
            </a:r>
            <a:r>
              <a:rPr lang="en-US" sz="18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Trebuchet MS"/>
              </a:rPr>
              <a:t>Previous DUI or not</a:t>
            </a:r>
            <a:r>
              <a:rPr lang="en-US" sz="18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Trebuchet MS"/>
              </a:rPr>
              <a:t>Crime rate indicator </a:t>
            </a:r>
            <a:r>
              <a:rPr lang="en-US" sz="18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Trebuchet MS"/>
              </a:rPr>
              <a:t>Number of issued tickets from police</a:t>
            </a:r>
            <a:r>
              <a:rPr lang="en-US" sz="18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Trebuchet MS"/>
              </a:rPr>
              <a:t>If an area exhibits snow/hail in winter time</a:t>
            </a:r>
            <a:r>
              <a:rPr lang="en-US" sz="1800" b="0" i="0">
                <a:effectLst/>
                <a:latin typeface="Trebuchet MS"/>
              </a:rPr>
              <a:t>​</a:t>
            </a:r>
            <a:endParaRPr lang="en-US" b="0" i="0">
              <a:effectLst/>
              <a:latin typeface="Trebuchet MS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8477-F717-2DD6-0188-8C5F57B0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7462-4AC9-B691-25C3-8E3505370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ffectLst/>
              </a:rPr>
              <a:t>PIC Math is a program of the Mathematical Association of America (MAA) and </a:t>
            </a:r>
            <a:r>
              <a:rPr lang="en-US" dirty="0"/>
              <a:t>the Society</a:t>
            </a:r>
            <a:r>
              <a:rPr lang="en-US" dirty="0">
                <a:effectLst/>
              </a:rPr>
              <a:t> for Industrial and Applied Mathematics (SIAM).</a:t>
            </a:r>
          </a:p>
          <a:p>
            <a:r>
              <a:rPr lang="en-US" dirty="0">
                <a:effectLst/>
              </a:rPr>
              <a:t>Support is provided by </a:t>
            </a:r>
            <a:r>
              <a:rPr lang="en-US" dirty="0"/>
              <a:t>the National</a:t>
            </a:r>
            <a:r>
              <a:rPr lang="en-US" dirty="0">
                <a:effectLst/>
              </a:rPr>
              <a:t> Science Foundation (NSF </a:t>
            </a:r>
            <a:r>
              <a:rPr lang="en-US" dirty="0"/>
              <a:t>grant DMS-1722275</a:t>
            </a:r>
            <a:r>
              <a:rPr lang="en-US" dirty="0">
                <a:effectLst/>
              </a:rPr>
              <a:t>).</a:t>
            </a:r>
          </a:p>
          <a:p>
            <a:r>
              <a:rPr lang="en-US" dirty="0"/>
              <a:t>Industry Support: Travelers Insurance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86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655</Words>
  <Application>Microsoft Office PowerPoint</Application>
  <PresentationFormat>Widescreen</PresentationFormat>
  <Paragraphs>93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Courier New,monospace</vt:lpstr>
      <vt:lpstr>Trebuchet MS</vt:lpstr>
      <vt:lpstr>Wingdings</vt:lpstr>
      <vt:lpstr>Wingdings 3</vt:lpstr>
      <vt:lpstr>Wingdings,Sans-Serif</vt:lpstr>
      <vt:lpstr>Facet</vt:lpstr>
      <vt:lpstr>Capstone Presentation</vt:lpstr>
      <vt:lpstr>Industry Partner</vt:lpstr>
      <vt:lpstr>Problem</vt:lpstr>
      <vt:lpstr>Our Model</vt:lpstr>
      <vt:lpstr>Approach</vt:lpstr>
      <vt:lpstr>Linear Model Approaches</vt:lpstr>
      <vt:lpstr>Logistic Model/2-Model Approaches</vt:lpstr>
      <vt:lpstr>Machine Learning Techniques</vt:lpstr>
      <vt:lpstr>Elastic Net</vt:lpstr>
      <vt:lpstr>Best Model in Practice</vt:lpstr>
      <vt:lpstr>Analysis of Results</vt:lpstr>
      <vt:lpstr>Summary</vt:lpstr>
      <vt:lpstr>Next Steps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Mueller, Christopher J</cp:lastModifiedBy>
  <cp:revision>3</cp:revision>
  <dcterms:created xsi:type="dcterms:W3CDTF">2024-04-03T16:23:48Z</dcterms:created>
  <dcterms:modified xsi:type="dcterms:W3CDTF">2026-01-02T17:06:35Z</dcterms:modified>
</cp:coreProperties>
</file>